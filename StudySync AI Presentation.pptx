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</ns0:sldIdLst>
  <ns0:sldSz cx="12192000" cy="6858000" type="screen4x3"/>
  <ns0:notesSz cx="6858000" cy="9144000"/>
  <ns0:embeddedFontLst>
    <ns0:embeddedFont>
      <ns0:font typeface="Inter"/>
      <ns0:bold ns1:id="rIdFont13"/>
      <ns0:regular ns1:id="rIdFont14"/>
    </ns0:embeddedFont>
    <ns0:embeddedFont>
      <ns0:font typeface="Plus Jakarta Sans"/>
      <ns0:bold ns1:id="rIdFont1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Font13" Type="http://schemas.openxmlformats.org/officeDocument/2006/relationships/font" Target="fonts/a2d5e075-76ad-438f-adce-b6bf925e08d2.fntdata" /><ns0:Relationship Id="rIdFont14" Type="http://schemas.openxmlformats.org/officeDocument/2006/relationships/font" Target="fonts/97cf0346-95fd-4c22-bdae-d0276515e938.fntdata" /><ns0:Relationship Id="rIdFont15" Type="http://schemas.openxmlformats.org/officeDocument/2006/relationships/font" Target="fonts/49d12da1-fd9c-4bd2-9f45-b3abb2c5aaed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00750"/>
            <a:ext cx="109728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110805"/>
            <a:ext cx="6097934" cy="1895475"/>
          </a:xfrm>
          <a:prstGeom prst="roundRect">
            <a:avLst>
              <a:gd name="adj" fmla="val 804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000750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0" y="533400"/>
            <a:ext cx="1981200" cy="295275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534" y="2725042"/>
            <a:ext cx="4493865" cy="2667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8059" y="2734567"/>
            <a:ext cx="4474815" cy="26479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3425130"/>
            <a:ext cx="342900" cy="3429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650" y="3510855"/>
            <a:ext cx="17145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981075"/>
            <a:ext cx="11582400" cy="5447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290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StudySync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640085"/>
            <a:ext cx="115824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94A3B8"/>
                </a:solidFill>
                <a:latin typeface="Inter"/>
              </a:rPr>
              <a:t>An AI-Powered Smart Study Assistant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162675"/>
            <a:ext cx="4786312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Transforming study efficiency through automated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6625" y="6162675"/>
            <a:ext cx="7715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Slide 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95312"/>
            <a:ext cx="46315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B82F6"/>
                </a:solidFill>
                <a:latin typeface="Plus Jakarta Sans"/>
              </a:rPr>
              <a:t>TEAM SANNYYADAV2307 • INDIVIDUAL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53600" y="590550"/>
            <a:ext cx="17716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Presenter: SANNY YADAV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3920430"/>
            <a:ext cx="5564534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Students spend excessive time parsing dense textbooks and long papers without active recall mechanisms or targeted practice tools.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1125" y="3477517"/>
            <a:ext cx="2350293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Plus Jakarta Sans"/>
              </a:rPr>
              <a:t>Problem Statement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00750"/>
            <a:ext cx="109728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392858"/>
            <a:ext cx="3505200" cy="2424707"/>
          </a:xfrm>
          <a:prstGeom prst="roundRect">
            <a:avLst>
              <a:gd name="adj" fmla="val 628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512814"/>
            <a:ext cx="3505200" cy="2184796"/>
          </a:xfrm>
          <a:prstGeom prst="roundRect">
            <a:avLst>
              <a:gd name="adj" fmla="val 697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512814"/>
            <a:ext cx="3505200" cy="2184796"/>
          </a:xfrm>
          <a:prstGeom prst="roundRect">
            <a:avLst>
              <a:gd name="adj" fmla="val 697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600075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707183"/>
            <a:ext cx="533400" cy="533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2827139"/>
            <a:ext cx="533400" cy="533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2827139"/>
            <a:ext cx="533400" cy="533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2859583"/>
            <a:ext cx="17145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8212" y="2979539"/>
            <a:ext cx="20002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9150" y="2979539"/>
            <a:ext cx="28575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B82F6"/>
                </a:solidFill>
                <a:latin typeface="Plus Jakarta Sans"/>
              </a:rPr>
              <a:t>CORE CAPABILITIES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Key Intelligent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162675"/>
            <a:ext cx="263128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Inter"/>
              </a:rPr>
              <a:t>StudySync AI • Feature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8050" y="6162675"/>
            <a:ext cx="8001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Inter"/>
              </a:rPr>
              <a:t>Slide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3431083"/>
            <a:ext cx="352544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Smart Document Summarizer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3783508"/>
            <a:ext cx="3124200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Extracts core concepts instantly from uploaded PDFs and long papers.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81525" y="3551039"/>
            <a:ext cx="363795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AI Quiz &amp; Flashcard Generator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1525" y="3903464"/>
            <a:ext cx="31242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Generates automated MCQs and flashcards driving active recall.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5325" y="3551039"/>
            <a:ext cx="271283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Contextual AI Chatbot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5325" y="3903464"/>
            <a:ext cx="31242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Resolves document doubts through interactive context-aware chat.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00750"/>
            <a:ext cx="109728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00337"/>
            <a:ext cx="2436018" cy="180975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55193" y="2700337"/>
            <a:ext cx="2436018" cy="180975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00787" y="2800350"/>
            <a:ext cx="2436018" cy="1609725"/>
          </a:xfrm>
          <a:prstGeom prst="roundRect">
            <a:avLst>
              <a:gd name="adj" fmla="val 828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6381" y="2700337"/>
            <a:ext cx="2436018" cy="180975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600075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9625" y="2976562"/>
            <a:ext cx="695325" cy="219075"/>
          </a:xfrm>
          <a:prstGeom prst="roundRect">
            <a:avLst>
              <a:gd name="adj" fmla="val 26086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5218" y="2976562"/>
            <a:ext cx="714375" cy="219075"/>
          </a:xfrm>
          <a:prstGeom prst="roundRect">
            <a:avLst>
              <a:gd name="adj" fmla="val 26086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00812" y="3076575"/>
            <a:ext cx="714375" cy="219075"/>
          </a:xfrm>
          <a:prstGeom prst="roundRect">
            <a:avLst>
              <a:gd name="adj" fmla="val 26086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46406" y="2976562"/>
            <a:ext cx="723900" cy="219075"/>
          </a:xfrm>
          <a:prstGeom prst="roundRect">
            <a:avLst>
              <a:gd name="adj" fmla="val 26086"/>
            </a:avLst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8018" y="3519487"/>
            <a:ext cx="104775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3612" y="3519487"/>
            <a:ext cx="104775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9206" y="3519487"/>
            <a:ext cx="104775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B82F6"/>
                </a:solidFill>
                <a:latin typeface="Plus Jakarta Sans"/>
              </a:rPr>
              <a:t>SYSTEM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End-to-End Technology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162675"/>
            <a:ext cx="26193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Inter"/>
              </a:rPr>
              <a:t>StudySync AI • System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8050" y="6162675"/>
            <a:ext cx="8001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Inter"/>
              </a:rPr>
              <a:t>Slide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875" y="3014662"/>
            <a:ext cx="60007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2563EB"/>
                </a:solidFill>
                <a:latin typeface="Plus Jakarta Sans"/>
              </a:rPr>
              <a:t>LAYER 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625" y="3300412"/>
            <a:ext cx="267220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Frontend 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" y="3576637"/>
            <a:ext cx="254496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B82F6"/>
                </a:solidFill>
                <a:latin typeface="Inter"/>
              </a:rPr>
              <a:t>Next.js &amp; Tailwind CSS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25" y="3833812"/>
            <a:ext cx="2131218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Responsive user interface.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50468" y="3014662"/>
            <a:ext cx="6191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4F46E5"/>
                </a:solidFill>
                <a:latin typeface="Plus Jakarta Sans"/>
              </a:rPr>
              <a:t>LAYER 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5218" y="3300412"/>
            <a:ext cx="267220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API Backend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5218" y="3576637"/>
            <a:ext cx="254496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F46E5"/>
                </a:solidFill>
                <a:latin typeface="Inter"/>
              </a:rPr>
              <a:t>Python FastAPI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5218" y="3833812"/>
            <a:ext cx="2131218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High-performance API server.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96062" y="3114675"/>
            <a:ext cx="6191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Plus Jakarta Sans"/>
              </a:rPr>
              <a:t>LAYER 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0812" y="3400425"/>
            <a:ext cx="267220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AI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0812" y="3676650"/>
            <a:ext cx="254496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284C7"/>
                </a:solidFill>
                <a:latin typeface="Inter"/>
              </a:rPr>
              <a:t>LangChain &amp; LLMs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0812" y="3933825"/>
            <a:ext cx="254496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Context parsing engine.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1656" y="3014662"/>
            <a:ext cx="6286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D9488"/>
                </a:solidFill>
                <a:latin typeface="Plus Jakarta Sans"/>
              </a:rPr>
              <a:t>LAYER 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6406" y="3300412"/>
            <a:ext cx="267220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Database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6406" y="3576637"/>
            <a:ext cx="254496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D9488"/>
                </a:solidFill>
                <a:latin typeface="Inter"/>
              </a:rPr>
              <a:t>PostgreSQL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46406" y="3833812"/>
            <a:ext cx="2131218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User and document storage.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00750"/>
            <a:ext cx="109728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721471"/>
            <a:ext cx="3505200" cy="1767482"/>
          </a:xfrm>
          <a:prstGeom prst="roundRect">
            <a:avLst>
              <a:gd name="adj" fmla="val 754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841426"/>
            <a:ext cx="3505200" cy="1527571"/>
          </a:xfrm>
          <a:prstGeom prst="roundRect">
            <a:avLst>
              <a:gd name="adj" fmla="val 872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721471"/>
            <a:ext cx="3505200" cy="1767482"/>
          </a:xfrm>
          <a:prstGeom prst="roundRect">
            <a:avLst>
              <a:gd name="adj" fmla="val 754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600075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4479428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2721471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721471"/>
            <a:ext cx="57150" cy="176748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05275" y="2721471"/>
            <a:ext cx="9525" cy="176748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4359473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2841426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841426"/>
            <a:ext cx="57150" cy="1527571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39075" y="2841426"/>
            <a:ext cx="9525" cy="1527571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7200" y="4479428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77200" y="2721471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7200" y="2721471"/>
            <a:ext cx="57150" cy="176748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572875" y="2721471"/>
            <a:ext cx="9525" cy="176748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3035796"/>
            <a:ext cx="266700" cy="266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5350" y="3155751"/>
            <a:ext cx="200025" cy="2667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9150" y="3035796"/>
            <a:ext cx="333375" cy="2667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B82F6"/>
                </a:solidFill>
                <a:latin typeface="Plus Jakarta Sans"/>
              </a:rPr>
              <a:t>ROADMAP &amp; EVOLUTION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Future 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6162675"/>
            <a:ext cx="260746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Inter"/>
              </a:rPr>
              <a:t>StudySync AI • Future Expansion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8050" y="6162675"/>
            <a:ext cx="8001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0F172A"/>
                </a:solidFill>
                <a:latin typeface="Inter"/>
              </a:rPr>
              <a:t>Slide 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1550" y="3454896"/>
            <a:ext cx="2924175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Analyzes regional and global study materials across diverse languages.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5350" y="3574851"/>
            <a:ext cx="2924175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Delivers audio explanations and interactive voice Q&amp;A sessions.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9150" y="3454896"/>
            <a:ext cx="2924175" cy="7197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Syncs directly with popular platforms for seamless course material access.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0650" y="3050083"/>
            <a:ext cx="30003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Multi-Language Support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57775" y="3170039"/>
            <a:ext cx="257532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Voice-Based AI Tutor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24925" y="3050083"/>
            <a:ext cx="302537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LMS Platform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248275"/>
            <a:ext cx="10972800" cy="600075"/>
          </a:xfrm>
          <a:prstGeom prst="roundRect">
            <a:avLst>
              <a:gd name="adj" fmla="val 19047"/>
            </a:avLst>
          </a:prstGeom>
          <a:solidFill>
            <a:srgbClr val="13223E"/>
          </a:solidFill>
          <a:ln w="9525">
            <a:solidFill>
              <a:srgbClr val="1C37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00750"/>
            <a:ext cx="109728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290762"/>
            <a:ext cx="5314950" cy="1876425"/>
          </a:xfrm>
          <a:prstGeom prst="roundRect">
            <a:avLst>
              <a:gd name="adj" fmla="val 812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67450" y="2424112"/>
            <a:ext cx="5314950" cy="1609725"/>
          </a:xfrm>
          <a:prstGeom prst="roundRect">
            <a:avLst>
              <a:gd name="adj" fmla="val 946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6000750"/>
            <a:ext cx="109728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3475" y="2738437"/>
            <a:ext cx="342900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B82F6"/>
                </a:solidFill>
                <a:latin typeface="Plus Jakarta Sans"/>
              </a:rPr>
              <a:t>EXPECTED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FFFFFF"/>
                </a:solidFill>
                <a:latin typeface="Plus Jakarta Sans"/>
              </a:rPr>
              <a:t>Conclusion &amp; Outcomes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184546" y="5448300"/>
            <a:ext cx="125610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93C5FD"/>
                </a:solidFill>
                <a:latin typeface="Inter"/>
              </a:rPr>
              <a:t>Bridging the gap between bulky study data and smart learning through AI.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162675"/>
            <a:ext cx="4857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Team: sannyyadav2307 | SANNY YADAV • Thank You &amp; Q&amp;A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77575" y="6162675"/>
            <a:ext cx="7905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Slide 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137" y="2605087"/>
            <a:ext cx="5857875" cy="647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100"/>
              </a:lnSpc>
            </a:pPr>
            <a:r>
              <a:rPr b="1" sz="5100" i="0" u="none">
                <a:solidFill>
                  <a:srgbClr val="3B82F6"/>
                </a:solidFill>
                <a:latin typeface="Plus Jakarta Sans"/>
              </a:rPr>
              <a:t>70%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137" y="3367087"/>
            <a:ext cx="58578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8FAFC"/>
                </a:solidFill>
                <a:latin typeface="Inter"/>
              </a:rPr>
              <a:t>Time Saved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137" y="3652837"/>
            <a:ext cx="5857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94A3B8"/>
                </a:solidFill>
                <a:latin typeface="Inter"/>
              </a:rPr>
              <a:t>Accelerated research and document summarization.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95987" y="3233737"/>
            <a:ext cx="58578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8FAFC"/>
                </a:solidFill>
                <a:latin typeface="Inter"/>
              </a:rPr>
              <a:t>Active Memory 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95987" y="3519487"/>
            <a:ext cx="5857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94A3B8"/>
                </a:solidFill>
                <a:latin typeface="Inter"/>
              </a:rPr>
              <a:t>Quizzes strengthen concept retention power.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23937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8FAFC"/>
                </a:solidFill>
                <a:latin typeface="Inter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990600"/>
            <a:ext cx="100488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F8FAFC"/>
                </a:solidFill>
                <a:latin typeface="Inter"/>
              </a:rPr>
              <a:t>https://www.ucf.edu/wp-content/blogs.dir/16/files/2026/04/artificial-intelligence-new-technology-science-futuristic-abstract-human-brain-ai-technology-cpu-central-processor-unit-chipset-big-data-machine-learning-cyber-mind-domination-generative-ai-scaled-760.jpg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343025"/>
            <a:ext cx="192881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www.ucf.edu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